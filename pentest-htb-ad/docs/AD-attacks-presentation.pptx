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75488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B3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5294A"/>
          </a:solidFill>
          <a:ln w="12700">
            <a:solidFill>
              <a:srgbClr val="35D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ACTIVE DIRECTORY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מתקפות על Active Directory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מתודולוגיה, כלים וספרות מקצועית בתחום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108960" y="4114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 התקיפה המלאה — מאיתור ראשוני ועד השתלטות על הדומיין — מודגמת בסביבת אימון מורשית של Hack The Box, וממופה למסגרות ולמחקר המקצועי המוביל בתחום.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נספח: מאמר מקצועי מלווה  ·  רשימת מקורות מלאה בסוף המצגת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מדוע Active Directory?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CROWN JEWEL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35640" y="2002536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835640" y="2002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מכלל חברות Fortune 1000 מסתמכות על AD לניהול זהויות והרשאות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35640" y="3575304"/>
            <a:ext cx="566928" cy="566928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35640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33558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דומיין = מטרה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" y="3355848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השתלטות על בקר הדומיין (DC) שקולה לשליטה בכל תחנה, שרת ומשתמש בארגון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35640" y="5148072"/>
            <a:ext cx="566928" cy="566928"/>
          </a:xfrm>
          <a:prstGeom prst="oval">
            <a:avLst/>
          </a:prstGeom>
          <a:solidFill>
            <a:srgbClr val="2A7B8C"/>
          </a:solidFill>
          <a:ln w="12700">
            <a:solidFill>
              <a:srgbClr val="2A7B8C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35640" y="5148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4928616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A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 = חשיפה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4400" y="4928616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הרשאות, נאמנויות (trusts), האצלות (delegation) ו-ACLs מצטברים לנתיבי תקיפה נסתרים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netanelcyber · HAMIVTZAR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6419088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אימון מורשית (Hack The Box) — למטרות חינוכיות בלבד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חיי התקיפה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LIFECYCLE — 7 PHASES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34856" y="1737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09376" y="1938528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09376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99448" y="25603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שירותים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299448" y="3017520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83880" y="1938528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3952" y="25603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לא-מאומת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3017520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 Enum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83864" y="1737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58384" y="1938528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48456" y="25603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ראשוני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48456" y="3017520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17373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1938528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32888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מאומת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Enum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34856" y="3813048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09376" y="4014216"/>
            <a:ext cx="566928" cy="566928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009376" y="4014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99448" y="46360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תנועה לרוחב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99448" y="509320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813048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4014216"/>
            <a:ext cx="566928" cy="566928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83880" y="4014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73952" y="46360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הסלמת דומיין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73952" y="509320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Priv-Esc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83864" y="3813048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58384" y="4014216"/>
            <a:ext cx="566928" cy="566928"/>
          </a:xfrm>
          <a:prstGeom prst="oval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58384" y="4014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648456" y="46360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השתלטות מלאה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648456" y="509320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Admin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מתועד כפקודות ניתנות-להעתקה ב-PLAYBOOK.md וממופה ל-MITRE ATT&amp;CK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netanelcyber · HAMIVTZAR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6419088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אימון מורשית (Hack The Box) — למטרות חינוכיות בלבד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שלבים 1–2 · איתור ומיפוי לא-מאומת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UNAUTHENTICATED ENUMERATION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09360" y="1554480"/>
            <a:ext cx="5330952" cy="4480560"/>
          </a:xfrm>
          <a:prstGeom prst="roundRect">
            <a:avLst>
              <a:gd name="adj" fmla="val 2041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טכניקות מפתח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92240" y="22860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סריקת פורטים לזיהוי ה-DC (Kerberos 88, LDAP 389, SMB 445, DNS 53)</a:t>
            </a:r>
            <a:endParaRPr lang="en-US" sz="145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null / guest sessions — מנייה של שיתופים ומשתמשים</a:t>
            </a:r>
            <a:endParaRPr lang="en-US" sz="145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 cycling — חילוץ רשימת משתמשים ללא אישורים</a:t>
            </a:r>
            <a:endParaRPr lang="en-US" sz="145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anonymous bind — לעיתים חושף סיסמאות בשדות description</a:t>
            </a:r>
            <a:endParaRPr lang="en-US" sz="145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AS-REP Roasting — משתמשים ללא דרישת pre-authentication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דוגמת פקודות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-Pn -p- --min-rate 2000 TARGET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nxc smb  IP -u '' -p '' --shares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nxc smb  IP -u guest -p '' \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--rid-brute 5000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GetNPUsers.py DOMAIN/ -dc-ip IP \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-usersfile users.txt \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-format hashcat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hashcat -m 18200 asrep.hash \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rockyou.txt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ספרות: Medin (Kerberoasting, DerbyCon 2014) · Schroeder — Roasting AS-REPs (2017)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 · השגת אישור וגניבת זהויות Kerberos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AS-REP ROASTING &amp; KERBEROASTING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13832" cy="3200400"/>
          </a:xfrm>
          <a:prstGeom prst="roundRect">
            <a:avLst>
              <a:gd name="adj" fmla="val 2857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0" y="1783080"/>
            <a:ext cx="640080" cy="640080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AS-REP Roasting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חשבונות עם pre-auth מבוטל מחזירים גיבוב (hash) הניתן לפיצוח לא-מקוון — נדרשת רק רשימת שמות משתמש.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5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18200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53912" y="1600200"/>
            <a:ext cx="5513832" cy="3200400"/>
          </a:xfrm>
          <a:prstGeom prst="roundRect">
            <a:avLst>
              <a:gd name="adj" fmla="val 2857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63072" y="1783080"/>
            <a:ext cx="640080" cy="64008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8105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28232" y="26060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משתמש מאומת יכול לבקש כרטיסי TGS לחשבונות שירות (SPN) ולפצח את סיסמתם לא-מקוון.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5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13100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074920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תובנת הגנה: חשבונות שירות עם SPN וסיסמאות חלשות הם וקטור נפוץ — המעבר ל-Group Managed Service Accounts (gMSA) עם סיסמאות אקראיות בנות 120 תווים מנטרל את התקיפה.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netanelcyber · HAMIVTZAR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6419088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אימון מורשית (Hack The Box) — למטרות חינוכיות בלבד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4 · מיפוי נתיבי תקיפה — BloodHound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ATTACK PATHS &amp; ACL ABUSE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35040" y="1554480"/>
            <a:ext cx="5605272" cy="4526280"/>
          </a:xfrm>
          <a:prstGeom prst="roundRect">
            <a:avLst>
              <a:gd name="adj" fmla="val 2020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63640" y="17830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BloodHound ממדל את הדומיין כגרף: משתמשים, קבוצות, מחשבים והרשאות הם צמתים וקשתות. שאילתת "Shortest Path to Domain Admins" חושפת נתיב הסלמה שנסתר מהעין האנושית.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3566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קשתות ACL נפוצות לניצול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40233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GenericAll / GenericWrite</a:t>
            </a:r>
            <a:endParaRPr lang="en-US" sz="1450" dirty="0"/>
          </a:p>
          <a:p>
            <a:pPr algn="r"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WriteDACL / WriteOwner</a:t>
            </a:r>
            <a:endParaRPr lang="en-US" sz="1450" dirty="0"/>
          </a:p>
          <a:p>
            <a:pPr algn="r"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AddMember / ForceChangePassword</a:t>
            </a:r>
            <a:endParaRPr lang="en-US" sz="1450" dirty="0"/>
          </a:p>
          <a:p>
            <a:pPr algn="r"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AllowedToDelegate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0" y="2651760"/>
            <a:ext cx="1463040" cy="640080"/>
          </a:xfrm>
          <a:prstGeom prst="line">
            <a:avLst/>
          </a:prstGeom>
          <a:noFill/>
          <a:ln w="19050">
            <a:solidFill>
              <a:srgbClr val="35D0E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28800" y="4297680"/>
            <a:ext cx="1371600" cy="-822960"/>
          </a:xfrm>
          <a:prstGeom prst="line">
            <a:avLst/>
          </a:prstGeom>
          <a:noFill/>
          <a:ln w="19050">
            <a:solidFill>
              <a:srgbClr val="35D0E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74720" y="3474720"/>
            <a:ext cx="731520" cy="1463040"/>
          </a:xfrm>
          <a:prstGeom prst="line">
            <a:avLst/>
          </a:prstGeom>
          <a:noFill/>
          <a:ln w="19050">
            <a:solidFill>
              <a:srgbClr val="35D0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71600" y="2377440"/>
            <a:ext cx="914400" cy="914400"/>
          </a:xfrm>
          <a:prstGeom prst="oval">
            <a:avLst/>
          </a:prstGeom>
          <a:solidFill>
            <a:srgbClr val="0C1626"/>
          </a:solidFill>
          <a:ln w="3175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108960"/>
            <a:ext cx="914400" cy="914400"/>
          </a:xfrm>
          <a:prstGeom prst="oval">
            <a:avLst/>
          </a:prstGeom>
          <a:solidFill>
            <a:srgbClr val="0C1626"/>
          </a:solidFill>
          <a:ln w="31750">
            <a:solidFill>
              <a:srgbClr val="2A7B8C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4206240"/>
            <a:ext cx="914400" cy="914400"/>
          </a:xfrm>
          <a:prstGeom prst="oval">
            <a:avLst/>
          </a:prstGeom>
          <a:solidFill>
            <a:srgbClr val="0C1626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4937760"/>
            <a:ext cx="914400" cy="914400"/>
          </a:xfrm>
          <a:prstGeom prst="oval">
            <a:avLst/>
          </a:prstGeom>
          <a:solidFill>
            <a:srgbClr val="0C1626"/>
          </a:solidFill>
          <a:ln w="31750">
            <a:solidFill>
              <a:srgbClr val="E5484D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9963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ספרות: Robbins, Vazarkar &amp; Schroeder — "An ACE Up the Sleeve" (SpecterOps / DEF CON 25)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5 · תנועה לרוחב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13832" cy="1965960"/>
          </a:xfrm>
          <a:prstGeom prst="roundRect">
            <a:avLst>
              <a:gd name="adj" fmla="val 4651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0" y="182880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35D0E0"/>
          </a:solidFill>
          <a:ln/>
        </p:spPr>
      </p:sp>
      <p:sp>
        <p:nvSpPr>
          <p:cNvPr id="6" name="Text 4"/>
          <p:cNvSpPr/>
          <p:nvPr/>
        </p:nvSpPr>
        <p:spPr>
          <a:xfrm>
            <a:off x="5257800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Pass-the-Hash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בגיבוב NTLM במקום סיסמה לאימות מול שירותים ברחבי הרשת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513832" cy="1965960"/>
          </a:xfrm>
          <a:prstGeom prst="roundRect">
            <a:avLst>
              <a:gd name="adj" fmla="val 4651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63072" y="182880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2A7B8C"/>
          </a:solidFill>
          <a:ln/>
        </p:spPr>
      </p:sp>
      <p:sp>
        <p:nvSpPr>
          <p:cNvPr id="11" name="Text 9"/>
          <p:cNvSpPr/>
          <p:nvPr/>
        </p:nvSpPr>
        <p:spPr>
          <a:xfrm>
            <a:off x="1086307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28232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Pass-the-Ticket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28232" y="2514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ושימוש חוזר בכרטיסי Kerberos (TGT/TGS) לזהות אחרת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513832" cy="1965960"/>
          </a:xfrm>
          <a:prstGeom prst="roundRect">
            <a:avLst>
              <a:gd name="adj" fmla="val 4651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397764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39776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Impacket / evil-winrm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הרצת פקודות מרחוק: psexec, wmiexec, smbexec, מעטפת WinRM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53912" y="3794760"/>
            <a:ext cx="5513832" cy="1965960"/>
          </a:xfrm>
          <a:prstGeom prst="roundRect">
            <a:avLst>
              <a:gd name="adj" fmla="val 4651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863072" y="397764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5484D"/>
          </a:solidFill>
          <a:ln/>
        </p:spPr>
      </p:sp>
      <p:sp>
        <p:nvSpPr>
          <p:cNvPr id="21" name="Text 19"/>
          <p:cNvSpPr/>
          <p:nvPr/>
        </p:nvSpPr>
        <p:spPr>
          <a:xfrm>
            <a:off x="10863072" y="39776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28232" y="4023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Reuse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28232" y="46634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קציר אישורים מקומיים (LSASS/SAM/DPAPI) ושימוש חוזר במחשב הבא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netanelcyber · HAMIVTZAR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6419088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אימון מורשית (Hack The Box) — למטרות חינוכיות בלבד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6 · הסלמת הרשאות בדומיין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PRIVILEGE ESCALATION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4023360"/>
          </a:xfrm>
          <a:prstGeom prst="roundRect">
            <a:avLst>
              <a:gd name="adj" fmla="val 255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603504" cy="603504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81051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DCSync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הרשאות שכפול (DS-Replication) לחילוץ גיבובי סיסמה של כל משתמש — כולל krbtgt — ישירות מה-DC.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secretsdump.py -just-dc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75304" cy="4023360"/>
          </a:xfrm>
          <a:prstGeom prst="roundRect">
            <a:avLst>
              <a:gd name="adj" fmla="val 255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10512"/>
            <a:ext cx="603504" cy="603504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81051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Abuse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האצלות Unconstrained / Constrained / RBCD להתחזות לכל משתמש מול שירותים.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getST.py -impersonate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75304" cy="4023360"/>
          </a:xfrm>
          <a:prstGeom prst="roundRect">
            <a:avLst>
              <a:gd name="adj" fmla="val 255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10512"/>
            <a:ext cx="603504" cy="603504"/>
          </a:xfrm>
          <a:prstGeom prst="oval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81051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ADCS (ESC1-8)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26060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תבניות תעודה פגיעות מאפשרות בקשת תעודה בשם מנהל דומיין ואימות מולה.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certipy-ad find -vulnerable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ספרות: Schroeder &amp; Christensen — "Certified Pre-Owned" (ADCS) · Shamir — "Wagging the Dog" (RBCD)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 התקיפה המלאה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ATTACK CHAIN — UNAUTH → DOMAIN ADMIN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272016" y="178308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15294A"/>
          </a:solidFill>
          <a:ln w="254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0" y="1911096"/>
            <a:ext cx="365760" cy="365760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1911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00032" y="192938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לא-מאומת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00032" y="24231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· SMB null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64224" y="178308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15294A"/>
          </a:solidFill>
          <a:ln w="254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56448" y="1911096"/>
            <a:ext cx="365760" cy="365760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911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2938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מנייה + AS-REP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GetNPUsers.py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6432" y="178308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15294A"/>
          </a:solidFill>
          <a:ln w="25400">
            <a:solidFill>
              <a:srgbClr val="2A7B8C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48656" y="1911096"/>
            <a:ext cx="365760" cy="365760"/>
          </a:xfrm>
          <a:prstGeom prst="oval">
            <a:avLst/>
          </a:prstGeom>
          <a:solidFill>
            <a:srgbClr val="2A7B8C"/>
          </a:solidFill>
          <a:ln w="12700">
            <a:solidFill>
              <a:srgbClr val="2A7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1911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84448" y="192938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ראשוני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84448" y="24231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18200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15294A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40864" y="1911096"/>
            <a:ext cx="365760" cy="36576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1911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" y="192938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 + BH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24231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GetUserSPNs.py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15294A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40864" y="4334256"/>
            <a:ext cx="365760" cy="36576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40864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" y="435254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תנועה לרוחב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" y="4846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 · evil-winrm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56432" y="420624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15294A"/>
          </a:solidFill>
          <a:ln w="25400">
            <a:solidFill>
              <a:srgbClr val="E5484D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48656" y="4334256"/>
            <a:ext cx="365760" cy="365760"/>
          </a:xfrm>
          <a:prstGeom prst="oval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8656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84448" y="435254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הסלמת דומיין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84448" y="4846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DCSync · ADCS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64224" y="420624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E5484D"/>
          </a:solidFill>
          <a:ln w="25400">
            <a:solidFill>
              <a:srgbClr val="E5484D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56448" y="4334256"/>
            <a:ext cx="365760" cy="365760"/>
          </a:xfrm>
          <a:prstGeom prst="oval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4352544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Admin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4846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C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root.txt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72016" y="1472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64224" y="5340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50224" y="2331720"/>
            <a:ext cx="621792" cy="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triangl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742432" y="2331720"/>
            <a:ext cx="621792" cy="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triangl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834640" y="2331720"/>
            <a:ext cx="621792" cy="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triangl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691640" y="2880360"/>
            <a:ext cx="0" cy="132588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834640" y="4754880"/>
            <a:ext cx="621792" cy="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742432" y="4754880"/>
            <a:ext cx="621792" cy="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650224" y="4754880"/>
            <a:ext cx="402336" cy="0"/>
          </a:xfrm>
          <a:prstGeom prst="line">
            <a:avLst/>
          </a:prstGeom>
          <a:noFill/>
          <a:ln w="31750">
            <a:solidFill>
              <a:srgbClr val="35D0E0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052560" y="4206240"/>
            <a:ext cx="2587752" cy="1097280"/>
          </a:xfrm>
          <a:prstGeom prst="roundRect">
            <a:avLst>
              <a:gd name="adj" fmla="val 8333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0" y="43159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44000" y="4663440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מלא של NTDS.dit · גיבוב krbtgt · Golden Ticket לשרידוּת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5797296"/>
            <a:ext cx="11091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חוליה מזינה את הבא — קטיעת השרשרת בכל שלב עוצרת את התקיפה כולה.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6199632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מעבדות HTB לתרגול השרשרת:  </a:t>
            </a:r>
            <a:pPr algn="ct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· Sauna · Active · Blackfield · Cascade · Support  |  Pro Labs: Dante · Zephyr · Cerberus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הגנה והתמודדות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— MAPPING OFFENSE TO MITIGATION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0" y="1755648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 / AS-REP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6675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gMSA · סיסמאות חזקות · הפעלת pre-auth · ניטור בקשות TGS חריגות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2852928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/ BloodHound paths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6675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ההרשאה המזערית · ביקורת ACL תקופתית · הסרת הרשאות עודפות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3950208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Pass-the-Hash / Ticket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" y="3950208"/>
            <a:ext cx="6675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שכבות (Tiered / Enterprise Access) · Credential Guard · LAPS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5047488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DCSync / Delegation / ADCS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5047488"/>
            <a:ext cx="6675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הרשאות שכפול · חיזוק תבניות ADCS · ניטור אירועי 4662/4769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מלא של כל טכניקה למזהי MITRE ATT&amp;CK מופיע במאמר המלווה ובקבצי ה-findings.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 מקצועית · מסגרות ותקנים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LITERATURE — FRAMEWORKS &amp; STANDARDS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0" y="1700784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881360" y="1700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35040" y="1645920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— Enterprise Matrix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טקסונומיה של טכניקות יריב (TA0006 Credential Access, TA0008 Lateral Movement ועוד). attack.mitre.org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81360" y="2651760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8136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2596896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800-115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2596896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Guide to Information Security Testing and Assessment — מתודולוגיית בדיקות רשמית.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81360" y="3602736"/>
            <a:ext cx="566928" cy="566928"/>
          </a:xfrm>
          <a:prstGeom prst="oval">
            <a:avLst/>
          </a:prstGeom>
          <a:solidFill>
            <a:srgbClr val="35D0E0"/>
          </a:solidFill>
          <a:ln w="12700">
            <a:solidFill>
              <a:srgbClr val="35D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81360" y="3602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0" y="354787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PTES — Penetration Testing Execution Standard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3547872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תקן שלבי בדיקת חדירות: pre-engagement, intelligence, exploitation, reporting.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881360" y="4553712"/>
            <a:ext cx="566928" cy="566928"/>
          </a:xfrm>
          <a:prstGeom prst="oval">
            <a:avLst/>
          </a:prstGeom>
          <a:solidFill>
            <a:srgbClr val="2A7B8C"/>
          </a:solidFill>
          <a:ln w="12700">
            <a:solidFill>
              <a:srgbClr val="2A7B8C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881360" y="4553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Testing Guide / WSTG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4498848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מסגרת בדיקות אבטחה, רלוונטית לשלב ה-foothold מבוסס-Web של מכונות רבות.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58384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81360" y="5504688"/>
            <a:ext cx="566928" cy="566928"/>
          </a:xfrm>
          <a:prstGeom prst="oval">
            <a:avLst/>
          </a:prstGeom>
          <a:solidFill>
            <a:srgbClr val="2A7B8C"/>
          </a:solidFill>
          <a:ln w="12700">
            <a:solidFill>
              <a:srgbClr val="2A7B8C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881360" y="5504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35040" y="5449824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— Securing Active Directory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77240" y="5449824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for Securing AD · Tiered Administrative / Enterprise Access Model.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netanelcyber · HAMIVTZAR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6419088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אימון מורשית (Hack The Box) — למטרות חינוכיות בלבד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 מקצועית · מחקרים, כלים וספרים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SEMINAL RESEARCH · TOOLING · BOOKS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65008" y="1554480"/>
            <a:ext cx="3575304" cy="4526280"/>
          </a:xfrm>
          <a:prstGeom prst="roundRect">
            <a:avLst>
              <a:gd name="adj" fmla="val 255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66176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5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פורץ-דרך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6176" y="22402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Medin — Attacking Kerberos: Kicking the Guard Dog of Hades (DerbyCon 2014)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Robbins, Vazarkar &amp; Schroeder — An ACE Up the Sleeve (DEF CON 25, 2017)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Schroeder &amp; Christensen — Certified Pre-Owned: Abusing AD CS (2021)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Shamir — Wagging the Dog: Abusing RBCD (2019)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Metcalf — adsecurity.org (Kerberos &amp; DA persistence)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06824" y="1554480"/>
            <a:ext cx="3575304" cy="4526280"/>
          </a:xfrm>
          <a:prstGeom prst="roundRect">
            <a:avLst>
              <a:gd name="adj" fmla="val 255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 ותיעודם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7992" y="22402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Delpy — mimikatz (Pass-the-Hash, DCSync, Golden Ticket)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Impacket (Fortra) — secretsdump, GetUserSPNs, psexec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BloodHound / SharpHound (SpecterOps)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NetExec (nxc) / CrackMapExec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Certipy · Rubeus · PowerView (harmj0y)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575304" cy="4526280"/>
          </a:xfrm>
          <a:prstGeom prst="roundRect">
            <a:avLst>
              <a:gd name="adj" fmla="val 2558"/>
            </a:avLst>
          </a:prstGeom>
          <a:solidFill>
            <a:srgbClr val="15294A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ספרים ומסלולי הכשרה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2402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— The Hacker Playbook 3 (2018)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Weidman — Penetration Testing (No Starch, 2014)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 Academy — CPTS / AD Enumeration &amp; Attacks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 Labs — Forest, Sauna, Active, Blackfield, Support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 Pro Labs — Dante, Zephyr, Cerberus (multi-host AD)</a:t>
            </a:r>
            <a:endParaRPr lang="en-US" sz="1150" dirty="0"/>
          </a:p>
          <a:p>
            <a:pPr algn="r"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 Security — OSCP / OSEP materials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75488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011680" y="2103120"/>
            <a:ext cx="9509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תקיפת AD היא שרשרת לוגית: כל שלב מזין את הבא — ממיפוי לא-מאומת ועד DCSync.</a:t>
            </a:r>
            <a:endParaRPr lang="en-US" sz="1800" dirty="0"/>
          </a:p>
          <a:p>
            <a:pPr algn="r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הכלים והטכניקות מתועדים ומגובים במחקר מקצועי מוכר (SpecterOps, MITRE, Microsoft).</a:t>
            </a:r>
            <a:endParaRPr lang="en-US" sz="1800" dirty="0"/>
          </a:p>
          <a:p>
            <a:pPr algn="r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הבנת התקיפה היא הבסיס להגנה: כל וקטור ממופה למיטיגציה ולמזהה ATT&amp;CK.</a:t>
            </a:r>
            <a:endParaRPr lang="en-US" sz="1800" dirty="0"/>
          </a:p>
          <a:p>
            <a:pPr algn="r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הפעילות בוצעה בסביבת אימון מורשית (Hack The Box) ולמטרות חינוכיות בלבד.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1B3C63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5080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 מלווה: מאמר מקצועי מלא (ARTICLE.md) הכולל מבוא, מתודולוגיה, ניתוח כל שלב, מיפוי ATT&amp;CK ורשימת מקורות (bibliography).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2026-08-12T13:21:00Z</dcterms:created>
  <dcterms:modified xsi:type="dcterms:W3CDTF">2026-08-12T13:21:00Z</dcterms:modified>
</cp:coreProperties>
</file>