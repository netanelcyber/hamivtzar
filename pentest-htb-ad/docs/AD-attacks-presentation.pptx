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63840" y="-548640"/>
            <a:ext cx="4754880" cy="5943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0" b="1" dirty="0">
                <a:solidFill>
                  <a:srgbClr val="1B3C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</a:t>
            </a:r>
            <a:endParaRPr lang="en-US" sz="34000" dirty="0"/>
          </a:p>
        </p:txBody>
      </p:sp>
      <p:sp>
        <p:nvSpPr>
          <p:cNvPr id="3" name="Shape 1"/>
          <p:cNvSpPr/>
          <p:nvPr/>
        </p:nvSpPr>
        <p:spPr>
          <a:xfrm>
            <a:off x="640080" y="640080"/>
            <a:ext cx="2743200" cy="457200"/>
          </a:xfrm>
          <a:prstGeom prst="roundRect">
            <a:avLst>
              <a:gd name="adj" fmla="val 16000"/>
            </a:avLst>
          </a:prstGeom>
          <a:solidFill>
            <a:srgbClr val="15294A"/>
          </a:solidFill>
          <a:ln w="12700">
            <a:solidFill>
              <a:srgbClr val="35D0E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6400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5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TEAM · ACTIVE DIRECTORY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5200" b="1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מתקפות על Active Directory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640080" y="31546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dirty="0">
                <a:solidFill>
                  <a:srgbClr val="35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מתודולוגיה, כלים וספרות מקצועית בתחום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3108960" y="411480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9FB4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שרשרת התקיפה המלאה — מאיתור ראשוני ועד השתלטות על הדומיין — מודגמת בסביבת אימון מורשית של Hack The Box, וממופה למסגרות ולמחקר המקצועי המוביל בתחום.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61264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נספח: מאמר מקצועי מלווה  ·  רשימת מקורות מלאה בסוף המצגת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מדוע Active Directory?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11091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5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ENTERPRISE CROWN JEWEL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1672" cy="1371600"/>
          </a:xfrm>
          <a:prstGeom prst="roundRect">
            <a:avLst>
              <a:gd name="adj" fmla="val 6667"/>
            </a:avLst>
          </a:prstGeom>
          <a:solidFill>
            <a:srgbClr val="15294A"/>
          </a:solidFill>
          <a:ln w="12700">
            <a:solidFill>
              <a:srgbClr val="24406B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835640" y="2002536"/>
            <a:ext cx="566928" cy="566928"/>
          </a:xfrm>
          <a:prstGeom prst="oval">
            <a:avLst/>
          </a:prstGeom>
          <a:solidFill>
            <a:srgbClr val="35D0E0"/>
          </a:solidFill>
          <a:ln w="12700">
            <a:solidFill>
              <a:srgbClr val="35D0E0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835640" y="200253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C1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498080" y="178308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35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914400" y="1783080"/>
            <a:ext cx="6492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מכלל חברות Fortune 1000 מסתמכות על AD לניהול זהויות והרשאות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172968"/>
            <a:ext cx="11091672" cy="1371600"/>
          </a:xfrm>
          <a:prstGeom prst="roundRect">
            <a:avLst>
              <a:gd name="adj" fmla="val 6667"/>
            </a:avLst>
          </a:prstGeom>
          <a:solidFill>
            <a:srgbClr val="15294A"/>
          </a:solidFill>
          <a:ln w="12700">
            <a:solidFill>
              <a:srgbClr val="24406B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835640" y="3575304"/>
            <a:ext cx="566928" cy="566928"/>
          </a:xfrm>
          <a:prstGeom prst="oval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0835640" y="357530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C1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498080" y="3355848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דומיין = מטרה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914400" y="3355848"/>
            <a:ext cx="6492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השתלטות על בקר הדומיין (DC) שקולה לשליטה בכל תחנה, שרת ומשתמש בארגון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4745736"/>
            <a:ext cx="11091672" cy="1371600"/>
          </a:xfrm>
          <a:prstGeom prst="roundRect">
            <a:avLst>
              <a:gd name="adj" fmla="val 6667"/>
            </a:avLst>
          </a:prstGeom>
          <a:solidFill>
            <a:srgbClr val="15294A"/>
          </a:solidFill>
          <a:ln w="12700">
            <a:solidFill>
              <a:srgbClr val="24406B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835640" y="5148072"/>
            <a:ext cx="566928" cy="566928"/>
          </a:xfrm>
          <a:prstGeom prst="oval">
            <a:avLst/>
          </a:prstGeom>
          <a:solidFill>
            <a:srgbClr val="2A7B8C"/>
          </a:solidFill>
          <a:ln w="12700">
            <a:solidFill>
              <a:srgbClr val="2A7B8C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0835640" y="514807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C1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7498080" y="4928616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A7B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מורכבות = חשיפה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914400" y="4928616"/>
            <a:ext cx="6492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הרשאות, נאמנויות (trusts), האצלות (delegation) ו-ACLs מצטברים לנתיבי תקיפה נסתרים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FB4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netanelcyber · HAMIVTZAR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0" y="6419088"/>
            <a:ext cx="7068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9FB4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סביבת אימון מורשית (Hack The Box) — למטרות חינוכיות בלבד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מחזור חיי התקיפה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11091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5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ATTACK LIFECYCLE — 7 PHASES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9134856" y="1737360"/>
            <a:ext cx="2606040" cy="1691640"/>
          </a:xfrm>
          <a:prstGeom prst="roundRect">
            <a:avLst>
              <a:gd name="adj" fmla="val 5405"/>
            </a:avLst>
          </a:prstGeom>
          <a:solidFill>
            <a:srgbClr val="15294A"/>
          </a:solidFill>
          <a:ln w="12700">
            <a:solidFill>
              <a:srgbClr val="24406B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009376" y="1938528"/>
            <a:ext cx="566928" cy="566928"/>
          </a:xfrm>
          <a:prstGeom prst="oval">
            <a:avLst/>
          </a:prstGeom>
          <a:solidFill>
            <a:srgbClr val="35D0E0"/>
          </a:solidFill>
          <a:ln w="12700">
            <a:solidFill>
              <a:srgbClr val="35D0E0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1009376" y="193852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C1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299448" y="2560320"/>
            <a:ext cx="227685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איתור שירותים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299448" y="3017520"/>
            <a:ext cx="22768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4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309360" y="1737360"/>
            <a:ext cx="2606040" cy="1691640"/>
          </a:xfrm>
          <a:prstGeom prst="roundRect">
            <a:avLst>
              <a:gd name="adj" fmla="val 5405"/>
            </a:avLst>
          </a:prstGeom>
          <a:solidFill>
            <a:srgbClr val="15294A"/>
          </a:solidFill>
          <a:ln w="12700">
            <a:solidFill>
              <a:srgbClr val="24406B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183880" y="1938528"/>
            <a:ext cx="566928" cy="566928"/>
          </a:xfrm>
          <a:prstGeom prst="oval">
            <a:avLst/>
          </a:prstGeom>
          <a:solidFill>
            <a:srgbClr val="35D0E0"/>
          </a:solidFill>
          <a:ln w="12700">
            <a:solidFill>
              <a:srgbClr val="35D0E0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83880" y="193852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C1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73952" y="2560320"/>
            <a:ext cx="227685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מיפוי לא-מאומת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73952" y="3017520"/>
            <a:ext cx="22768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4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Unauth Enum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483864" y="1737360"/>
            <a:ext cx="2606040" cy="1691640"/>
          </a:xfrm>
          <a:prstGeom prst="roundRect">
            <a:avLst>
              <a:gd name="adj" fmla="val 5405"/>
            </a:avLst>
          </a:prstGeom>
          <a:solidFill>
            <a:srgbClr val="15294A"/>
          </a:solidFill>
          <a:ln w="12700">
            <a:solidFill>
              <a:srgbClr val="24406B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358384" y="1938528"/>
            <a:ext cx="566928" cy="566928"/>
          </a:xfrm>
          <a:prstGeom prst="oval">
            <a:avLst/>
          </a:prstGeom>
          <a:solidFill>
            <a:srgbClr val="35D0E0"/>
          </a:solidFill>
          <a:ln w="12700">
            <a:solidFill>
              <a:srgbClr val="35D0E0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358384" y="193852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C1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648456" y="2560320"/>
            <a:ext cx="227685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אישור ראשוני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648456" y="3017520"/>
            <a:ext cx="22768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4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Cred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58368" y="1737360"/>
            <a:ext cx="2606040" cy="1691640"/>
          </a:xfrm>
          <a:prstGeom prst="roundRect">
            <a:avLst>
              <a:gd name="adj" fmla="val 5405"/>
            </a:avLst>
          </a:prstGeom>
          <a:solidFill>
            <a:srgbClr val="15294A"/>
          </a:solidFill>
          <a:ln w="12700">
            <a:solidFill>
              <a:srgbClr val="24406B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532888" y="1938528"/>
            <a:ext cx="566928" cy="566928"/>
          </a:xfrm>
          <a:prstGeom prst="oval">
            <a:avLst/>
          </a:prstGeom>
          <a:solidFill>
            <a:srgbClr val="35D0E0"/>
          </a:solidFill>
          <a:ln w="12700">
            <a:solidFill>
              <a:srgbClr val="35D0E0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2532888" y="193852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C1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22960" y="2560320"/>
            <a:ext cx="227685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מיפוי מאומת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22960" y="3017520"/>
            <a:ext cx="22768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4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Enum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134856" y="3813048"/>
            <a:ext cx="2606040" cy="1691640"/>
          </a:xfrm>
          <a:prstGeom prst="roundRect">
            <a:avLst>
              <a:gd name="adj" fmla="val 5405"/>
            </a:avLst>
          </a:prstGeom>
          <a:solidFill>
            <a:srgbClr val="15294A"/>
          </a:solidFill>
          <a:ln w="12700">
            <a:solidFill>
              <a:srgbClr val="24406B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1009376" y="4014216"/>
            <a:ext cx="566928" cy="566928"/>
          </a:xfrm>
          <a:prstGeom prst="oval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1009376" y="401421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C1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9299448" y="4636008"/>
            <a:ext cx="227685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תנועה לרוחב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299448" y="5093208"/>
            <a:ext cx="22768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4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Lateral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09360" y="3813048"/>
            <a:ext cx="2606040" cy="1691640"/>
          </a:xfrm>
          <a:prstGeom prst="roundRect">
            <a:avLst>
              <a:gd name="adj" fmla="val 5405"/>
            </a:avLst>
          </a:prstGeom>
          <a:solidFill>
            <a:srgbClr val="15294A"/>
          </a:solidFill>
          <a:ln w="12700">
            <a:solidFill>
              <a:srgbClr val="24406B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183880" y="4014216"/>
            <a:ext cx="566928" cy="566928"/>
          </a:xfrm>
          <a:prstGeom prst="oval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183880" y="401421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C1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6473952" y="4636008"/>
            <a:ext cx="227685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הסלמת דומיין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6473952" y="5093208"/>
            <a:ext cx="22768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4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Priv-Esc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483864" y="3813048"/>
            <a:ext cx="2606040" cy="1691640"/>
          </a:xfrm>
          <a:prstGeom prst="roundRect">
            <a:avLst>
              <a:gd name="adj" fmla="val 5405"/>
            </a:avLst>
          </a:prstGeom>
          <a:solidFill>
            <a:srgbClr val="15294A"/>
          </a:solidFill>
          <a:ln w="12700">
            <a:solidFill>
              <a:srgbClr val="24406B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5358384" y="4014216"/>
            <a:ext cx="566928" cy="566928"/>
          </a:xfrm>
          <a:prstGeom prst="oval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5358384" y="401421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C1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3648456" y="4636008"/>
            <a:ext cx="227685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השתלטות מלאה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3648456" y="5093208"/>
            <a:ext cx="22768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4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Admin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58368" y="59893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35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שלב מתועד כפקודות ניתנות-להעתקה ב-PLAYBOOK.md וממופה ל-MITRE ATT&amp;CK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FB4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netanelcyber · HAMIVTZAR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572000" y="6419088"/>
            <a:ext cx="7068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9FB4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סביבת אימון מורשית (Hack The Box) — למטרות חינוכיות בלבד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שלבים 1–2 · איתור ומיפוי לא-מאומת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11091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5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&amp; UNAUTHENTICATED ENUMERATION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309360" y="1554480"/>
            <a:ext cx="5330952" cy="4480560"/>
          </a:xfrm>
          <a:prstGeom prst="roundRect">
            <a:avLst>
              <a:gd name="adj" fmla="val 2041"/>
            </a:avLst>
          </a:prstGeom>
          <a:solidFill>
            <a:srgbClr val="15294A"/>
          </a:solidFill>
          <a:ln w="12700">
            <a:solidFill>
              <a:srgbClr val="24406B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92240" y="17373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35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טכניקות מפתח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492240" y="2286000"/>
            <a:ext cx="49377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סריקת פורטים לזיהוי ה-DC (Kerberos 88, LDAP 389, SMB 445, DNS 53)</a:t>
            </a:r>
            <a:endParaRPr lang="en-US" sz="1450" dirty="0"/>
          </a:p>
          <a:p>
            <a:pPr algn="r"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SMB null / guest sessions — מנייה של שיתופים ומשתמשים</a:t>
            </a:r>
            <a:endParaRPr lang="en-US" sz="1450" dirty="0"/>
          </a:p>
          <a:p>
            <a:pPr algn="r"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RID cycling — חילוץ רשימת משתמשים ללא אישורים</a:t>
            </a:r>
            <a:endParaRPr lang="en-US" sz="1450" dirty="0"/>
          </a:p>
          <a:p>
            <a:pPr algn="r"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LDAP anonymous bind — לעיתים חושף סיסמאות בשדות description</a:t>
            </a:r>
            <a:endParaRPr lang="en-US" sz="1450" dirty="0"/>
          </a:p>
          <a:p>
            <a:pPr algn="r"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AS-REP Roasting — משתמשים ללא דרישת pre-authentication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5577840" cy="4480560"/>
          </a:xfrm>
          <a:prstGeom prst="roundRect">
            <a:avLst>
              <a:gd name="adj" fmla="val 2041"/>
            </a:avLst>
          </a:prstGeom>
          <a:solidFill>
            <a:srgbClr val="1B3C63"/>
          </a:solidFill>
          <a:ln w="12700">
            <a:solidFill>
              <a:srgbClr val="24406B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73736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דוגמת פקודות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77240" y="2331720"/>
            <a:ext cx="512064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EAF2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nmap -Pn -p- --min-rate 2000 TARGET</a:t>
            </a:r>
            <a:endParaRPr lang="en-US" sz="13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EAF2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nxc smb  IP -u '' -p '' --shares</a:t>
            </a:r>
            <a:endParaRPr lang="en-US" sz="13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EAF2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nxc smb  IP -u guest -p '' \</a:t>
            </a:r>
            <a:endParaRPr lang="en-US" sz="13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EAF2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--rid-brute 5000</a:t>
            </a:r>
            <a:endParaRPr lang="en-US" sz="13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EAF2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GetNPUsers.py DOMAIN/ -dc-ip IP \</a:t>
            </a:r>
            <a:endParaRPr lang="en-US" sz="13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EAF2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-usersfile users.txt \</a:t>
            </a:r>
            <a:endParaRPr lang="en-US" sz="13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EAF2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-format hashcat</a:t>
            </a:r>
            <a:endParaRPr lang="en-US" sz="13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EAF2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hashcat -m 18200 asrep.hash \</a:t>
            </a:r>
            <a:endParaRPr lang="en-US" sz="13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EAF2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rockyou.txt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48640" y="617220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FB4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ספרות: Medin (Kerberoasting, DerbyCon 2014) · Schroeder — Roasting AS-REPs (2017)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 3 · השגת אישור וגניבת זהויות Kerberos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11091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5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AS-REP ROASTING &amp; KERBEROASTING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513832" cy="3200400"/>
          </a:xfrm>
          <a:prstGeom prst="roundRect">
            <a:avLst>
              <a:gd name="adj" fmla="val 2857"/>
            </a:avLst>
          </a:prstGeom>
          <a:solidFill>
            <a:srgbClr val="15294A"/>
          </a:solidFill>
          <a:ln w="12700">
            <a:solidFill>
              <a:srgbClr val="24406B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257800" y="1783080"/>
            <a:ext cx="640080" cy="640080"/>
          </a:xfrm>
          <a:prstGeom prst="oval">
            <a:avLst/>
          </a:prstGeom>
          <a:solidFill>
            <a:srgbClr val="35D0E0"/>
          </a:solidFill>
          <a:ln w="12700">
            <a:solidFill>
              <a:srgbClr val="35D0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10512"/>
            <a:ext cx="4297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35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AS-REP Roasting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2606040"/>
            <a:ext cx="4937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חשבונות עם pre-auth מבוטל מחזירים גיבוב (hash) הניתן לפיצוח לא-מקוון — נדרשת רק רשימת שמות משתמש.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114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5D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hashcat -m 18200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53912" y="1600200"/>
            <a:ext cx="5513832" cy="3200400"/>
          </a:xfrm>
          <a:prstGeom prst="roundRect">
            <a:avLst>
              <a:gd name="adj" fmla="val 2857"/>
            </a:avLst>
          </a:prstGeom>
          <a:solidFill>
            <a:srgbClr val="15294A"/>
          </a:solidFill>
          <a:ln w="12700">
            <a:solidFill>
              <a:srgbClr val="24406B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863072" y="1783080"/>
            <a:ext cx="640080" cy="640080"/>
          </a:xfrm>
          <a:prstGeom prst="oval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28232" y="1810512"/>
            <a:ext cx="4297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Kerberoasting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428232" y="2606040"/>
            <a:ext cx="4937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משתמש מאומת יכול לבקש כרטיסי TGS לחשבונות שירות (SPN) ולפצח את סיסמתם לא-מקוון.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28232" y="4114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5D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hashcat -m 13100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983480"/>
            <a:ext cx="11091672" cy="1143000"/>
          </a:xfrm>
          <a:prstGeom prst="roundRect">
            <a:avLst>
              <a:gd name="adj" fmla="val 8000"/>
            </a:avLst>
          </a:prstGeom>
          <a:solidFill>
            <a:srgbClr val="1B3C63"/>
          </a:solidFill>
          <a:ln w="12700">
            <a:solidFill>
              <a:srgbClr val="24406B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77240" y="5074920"/>
            <a:ext cx="1063447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תובנת הגנה: חשבונות שירות עם SPN וסיסמאות חלשות הם וקטור נפוץ — המעבר ל-Group Managed Service Accounts (gMSA) עם סיסמאות אקראיות בנות 120 תווים מנטרל את התקיפה.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FB4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netanelcyber · HAMIVTZAR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72000" y="6419088"/>
            <a:ext cx="7068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9FB4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סביבת אימון מורשית (Hack The Box) — למטרות חינוכיות בלבד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 4 · מיפוי נתיבי תקיפה — BloodHound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11091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5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GRAPH-BASED ATTACK PATHS &amp; ACL ABUSE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035040" y="1554480"/>
            <a:ext cx="5605272" cy="4526280"/>
          </a:xfrm>
          <a:prstGeom prst="roundRect">
            <a:avLst>
              <a:gd name="adj" fmla="val 2020"/>
            </a:avLst>
          </a:prstGeom>
          <a:solidFill>
            <a:srgbClr val="15294A"/>
          </a:solidFill>
          <a:ln w="12700">
            <a:solidFill>
              <a:srgbClr val="24406B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263640" y="1783080"/>
            <a:ext cx="51206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BloodHound ממדל את הדומיין כגרף: משתמשים, קבוצות, מחשבים והרשאות הם צמתים וקשתות. שאילתת "Shortest Path to Domain Admins" חושפת נתיב הסלמה שנסתר מהעין האנושית.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263640" y="356616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35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קשתות ACL נפוצות לניצול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263640" y="4023360"/>
            <a:ext cx="51206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spcAft>
                <a:spcPts val="800"/>
              </a:spcAft>
              <a:buSzPct val="100000"/>
              <a:buChar char="▸"/>
            </a:pPr>
            <a:r>
              <a:rPr lang="en-US" sz="1450" dirty="0">
                <a:solidFill>
                  <a:srgbClr val="EAF2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GenericAll / GenericWrite</a:t>
            </a:r>
            <a:endParaRPr lang="en-US" sz="1450" dirty="0"/>
          </a:p>
          <a:p>
            <a:pPr algn="r" marL="342900" indent="-342900">
              <a:spcAft>
                <a:spcPts val="800"/>
              </a:spcAft>
              <a:buSzPct val="100000"/>
              <a:buChar char="▸"/>
            </a:pPr>
            <a:r>
              <a:rPr lang="en-US" sz="1450" dirty="0">
                <a:solidFill>
                  <a:srgbClr val="EAF2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WriteDACL / WriteOwner</a:t>
            </a:r>
            <a:endParaRPr lang="en-US" sz="1450" dirty="0"/>
          </a:p>
          <a:p>
            <a:pPr algn="r" marL="342900" indent="-342900">
              <a:spcAft>
                <a:spcPts val="800"/>
              </a:spcAft>
              <a:buSzPct val="100000"/>
              <a:buChar char="▸"/>
            </a:pPr>
            <a:r>
              <a:rPr lang="en-US" sz="1450" dirty="0">
                <a:solidFill>
                  <a:srgbClr val="EAF2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AddMember / ForceChangePassword</a:t>
            </a:r>
            <a:endParaRPr lang="en-US" sz="1450" dirty="0"/>
          </a:p>
          <a:p>
            <a:pPr algn="r" marL="342900" indent="-342900">
              <a:spcAft>
                <a:spcPts val="800"/>
              </a:spcAft>
              <a:buSzPct val="100000"/>
              <a:buChar char="▸"/>
            </a:pPr>
            <a:r>
              <a:rPr lang="en-US" sz="1450" dirty="0">
                <a:solidFill>
                  <a:srgbClr val="EAF2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AllowedToDelegate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1554480"/>
            <a:ext cx="5303520" cy="4526280"/>
          </a:xfrm>
          <a:prstGeom prst="roundRect">
            <a:avLst>
              <a:gd name="adj" fmla="val 2020"/>
            </a:avLst>
          </a:prstGeom>
          <a:solidFill>
            <a:srgbClr val="1B3C63"/>
          </a:solidFill>
          <a:ln w="12700">
            <a:solidFill>
              <a:srgbClr val="24406B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737360" y="2651760"/>
            <a:ext cx="1463040" cy="640080"/>
          </a:xfrm>
          <a:prstGeom prst="line">
            <a:avLst/>
          </a:prstGeom>
          <a:noFill/>
          <a:ln w="19050">
            <a:solidFill>
              <a:srgbClr val="35D0E0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1828800" y="4297680"/>
            <a:ext cx="1371600" cy="-822960"/>
          </a:xfrm>
          <a:prstGeom prst="line">
            <a:avLst/>
          </a:prstGeom>
          <a:noFill/>
          <a:ln w="19050">
            <a:solidFill>
              <a:srgbClr val="35D0E0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3474720" y="3474720"/>
            <a:ext cx="731520" cy="1463040"/>
          </a:xfrm>
          <a:prstGeom prst="line">
            <a:avLst/>
          </a:prstGeom>
          <a:noFill/>
          <a:ln w="19050">
            <a:solidFill>
              <a:srgbClr val="35D0E0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1371600" y="2377440"/>
            <a:ext cx="914400" cy="914400"/>
          </a:xfrm>
          <a:prstGeom prst="oval">
            <a:avLst/>
          </a:prstGeom>
          <a:solidFill>
            <a:srgbClr val="0C1626"/>
          </a:solidFill>
          <a:ln w="31750">
            <a:solidFill>
              <a:srgbClr val="35D0E0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371600" y="23774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108960" y="3108960"/>
            <a:ext cx="914400" cy="914400"/>
          </a:xfrm>
          <a:prstGeom prst="oval">
            <a:avLst/>
          </a:prstGeom>
          <a:solidFill>
            <a:srgbClr val="0C1626"/>
          </a:solidFill>
          <a:ln w="31750">
            <a:solidFill>
              <a:srgbClr val="2A7B8C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108960" y="31089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7B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554480" y="4206240"/>
            <a:ext cx="914400" cy="914400"/>
          </a:xfrm>
          <a:prstGeom prst="oval">
            <a:avLst/>
          </a:prstGeom>
          <a:solidFill>
            <a:srgbClr val="0C1626"/>
          </a:solidFill>
          <a:ln w="31750">
            <a:solidFill>
              <a:srgbClr val="F5A623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554480" y="42062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ACL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023360" y="4937760"/>
            <a:ext cx="914400" cy="914400"/>
          </a:xfrm>
          <a:prstGeom prst="oval">
            <a:avLst/>
          </a:prstGeom>
          <a:solidFill>
            <a:srgbClr val="0C1626"/>
          </a:solidFill>
          <a:ln w="31750">
            <a:solidFill>
              <a:srgbClr val="E5484D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023360" y="49377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19963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FB4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ספרות: Robbins, Vazarkar &amp; Schroeder — "An ACE Up the Sleeve" (SpecterOps / DEF CON 25)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 5 · תנועה לרוחב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11091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5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LATERAL MOVEMENT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513832" cy="1965960"/>
          </a:xfrm>
          <a:prstGeom prst="roundRect">
            <a:avLst>
              <a:gd name="adj" fmla="val 4651"/>
            </a:avLst>
          </a:prstGeom>
          <a:solidFill>
            <a:srgbClr val="15294A"/>
          </a:solidFill>
          <a:ln w="12700">
            <a:solidFill>
              <a:srgbClr val="24406B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257800" y="1828800"/>
            <a:ext cx="621792" cy="621792"/>
          </a:xfrm>
          <a:prstGeom prst="roundRect">
            <a:avLst>
              <a:gd name="adj" fmla="val 8824"/>
            </a:avLst>
          </a:prstGeom>
          <a:solidFill>
            <a:srgbClr val="35D0E0"/>
          </a:solidFill>
          <a:ln/>
        </p:spPr>
      </p:sp>
      <p:sp>
        <p:nvSpPr>
          <p:cNvPr id="6" name="Text 4"/>
          <p:cNvSpPr/>
          <p:nvPr/>
        </p:nvSpPr>
        <p:spPr>
          <a:xfrm>
            <a:off x="5257800" y="1828800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C1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187452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35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Pass-the-Hash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22960" y="2514600"/>
            <a:ext cx="4937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שימוש בגיבוב NTLM במקום סיסמה לאימות מול שירותים ברחבי הרשת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153912" y="1645920"/>
            <a:ext cx="5513832" cy="1965960"/>
          </a:xfrm>
          <a:prstGeom prst="roundRect">
            <a:avLst>
              <a:gd name="adj" fmla="val 4651"/>
            </a:avLst>
          </a:prstGeom>
          <a:solidFill>
            <a:srgbClr val="15294A"/>
          </a:solidFill>
          <a:ln w="12700">
            <a:solidFill>
              <a:srgbClr val="24406B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863072" y="1828800"/>
            <a:ext cx="621792" cy="621792"/>
          </a:xfrm>
          <a:prstGeom prst="roundRect">
            <a:avLst>
              <a:gd name="adj" fmla="val 8824"/>
            </a:avLst>
          </a:prstGeom>
          <a:solidFill>
            <a:srgbClr val="2A7B8C"/>
          </a:solidFill>
          <a:ln/>
        </p:spPr>
      </p:sp>
      <p:sp>
        <p:nvSpPr>
          <p:cNvPr id="11" name="Text 9"/>
          <p:cNvSpPr/>
          <p:nvPr/>
        </p:nvSpPr>
        <p:spPr>
          <a:xfrm>
            <a:off x="10863072" y="1828800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C1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428232" y="187452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2A7B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Pass-the-Ticket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428232" y="2514600"/>
            <a:ext cx="4937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בקשה ושימוש חוזר בכרטיסי Kerberos (TGT/TGS) לזהות אחרת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548640" y="3794760"/>
            <a:ext cx="5513832" cy="1965960"/>
          </a:xfrm>
          <a:prstGeom prst="roundRect">
            <a:avLst>
              <a:gd name="adj" fmla="val 4651"/>
            </a:avLst>
          </a:prstGeom>
          <a:solidFill>
            <a:srgbClr val="15294A"/>
          </a:solidFill>
          <a:ln w="12700">
            <a:solidFill>
              <a:srgbClr val="24406B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257800" y="3977640"/>
            <a:ext cx="621792" cy="621792"/>
          </a:xfrm>
          <a:prstGeom prst="roundRect">
            <a:avLst>
              <a:gd name="adj" fmla="val 8824"/>
            </a:avLst>
          </a:prstGeom>
          <a:solidFill>
            <a:srgbClr val="F5A623"/>
          </a:solidFill>
          <a:ln/>
        </p:spPr>
      </p:sp>
      <p:sp>
        <p:nvSpPr>
          <p:cNvPr id="16" name="Text 14"/>
          <p:cNvSpPr/>
          <p:nvPr/>
        </p:nvSpPr>
        <p:spPr>
          <a:xfrm>
            <a:off x="5257800" y="3977640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C1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22960" y="402336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Impacket / evil-winrm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22960" y="4663440"/>
            <a:ext cx="4937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הרצת פקודות מרחוק: psexec, wmiexec, smbexec, מעטפת WinRM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153912" y="3794760"/>
            <a:ext cx="5513832" cy="1965960"/>
          </a:xfrm>
          <a:prstGeom prst="roundRect">
            <a:avLst>
              <a:gd name="adj" fmla="val 4651"/>
            </a:avLst>
          </a:prstGeom>
          <a:solidFill>
            <a:srgbClr val="15294A"/>
          </a:solidFill>
          <a:ln w="12700">
            <a:solidFill>
              <a:srgbClr val="24406B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0863072" y="3977640"/>
            <a:ext cx="621792" cy="621792"/>
          </a:xfrm>
          <a:prstGeom prst="roundRect">
            <a:avLst>
              <a:gd name="adj" fmla="val 8824"/>
            </a:avLst>
          </a:prstGeom>
          <a:solidFill>
            <a:srgbClr val="E5484D"/>
          </a:solidFill>
          <a:ln/>
        </p:spPr>
      </p:sp>
      <p:sp>
        <p:nvSpPr>
          <p:cNvPr id="21" name="Text 19"/>
          <p:cNvSpPr/>
          <p:nvPr/>
        </p:nvSpPr>
        <p:spPr>
          <a:xfrm>
            <a:off x="10863072" y="3977640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C1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428232" y="402336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Credential Reuse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6428232" y="4663440"/>
            <a:ext cx="4937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קציר אישורים מקומיים (LSASS/SAM/DPAPI) ושימוש חוזר במחשב הבא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FB4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netanelcyber · HAMIVTZAR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0" y="6419088"/>
            <a:ext cx="7068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9FB4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סביבת אימון מורשית (Hack The Box) — למטרות חינוכיות בלבד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 6 · הסלמת הרשאות בדומיין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11091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5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PRIVILEGE ESCALATION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75304" cy="4023360"/>
          </a:xfrm>
          <a:prstGeom prst="roundRect">
            <a:avLst>
              <a:gd name="adj" fmla="val 2558"/>
            </a:avLst>
          </a:prstGeom>
          <a:solidFill>
            <a:srgbClr val="15294A"/>
          </a:solidFill>
          <a:ln w="12700">
            <a:solidFill>
              <a:srgbClr val="24406B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10512"/>
            <a:ext cx="603504" cy="603504"/>
          </a:xfrm>
          <a:prstGeom prst="oval">
            <a:avLst/>
          </a:prstGeom>
          <a:solidFill>
            <a:srgbClr val="35D0E0"/>
          </a:solidFill>
          <a:ln w="12700">
            <a:solidFill>
              <a:srgbClr val="35D0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508760" y="1810512"/>
            <a:ext cx="24688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5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DCSync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2606040"/>
            <a:ext cx="31089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ניצול הרשאות שכפול (DS-Replication) לחילוץ גיבובי סיסמה של כל משתמש — כולל krbtgt — ישירות מה-DC.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50292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2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secretsdump.py -just-dc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51960" y="1600200"/>
            <a:ext cx="3575304" cy="4023360"/>
          </a:xfrm>
          <a:prstGeom prst="roundRect">
            <a:avLst>
              <a:gd name="adj" fmla="val 2558"/>
            </a:avLst>
          </a:prstGeom>
          <a:solidFill>
            <a:srgbClr val="15294A"/>
          </a:solidFill>
          <a:ln w="12700">
            <a:solidFill>
              <a:srgbClr val="24406B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26280" y="1810512"/>
            <a:ext cx="603504" cy="603504"/>
          </a:xfrm>
          <a:prstGeom prst="oval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12080" y="1810512"/>
            <a:ext cx="24688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Delegation Abuse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480560" y="2606040"/>
            <a:ext cx="31089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ניצול האצלות Unconstrained / Constrained / RBCD להתחזות לכל משתמש מול שירותים.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80560" y="50292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2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getST.py -impersonate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55280" y="1600200"/>
            <a:ext cx="3575304" cy="4023360"/>
          </a:xfrm>
          <a:prstGeom prst="roundRect">
            <a:avLst>
              <a:gd name="adj" fmla="val 2558"/>
            </a:avLst>
          </a:prstGeom>
          <a:solidFill>
            <a:srgbClr val="15294A"/>
          </a:solidFill>
          <a:ln w="12700">
            <a:solidFill>
              <a:srgbClr val="24406B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0" y="1810512"/>
            <a:ext cx="603504" cy="603504"/>
          </a:xfrm>
          <a:prstGeom prst="oval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15400" y="1810512"/>
            <a:ext cx="24688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ADCS (ESC1-8)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183880" y="2606040"/>
            <a:ext cx="31089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תבניות תעודה פגיעות מאפשרות בקשת תעודה בשם מנהל דומיין ואימות מולה.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183880" y="50292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2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certipy-ad find -vulnerable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59436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4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ספרות: Schroeder &amp; Christensen — "Certified Pre-Owned" (ADCS) · Shamir — "Wagging the Dog" (RBCD)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C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הגנה והתמודדות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11091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5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 — MAPPING OFFENSE TO MITIGATION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1672" cy="987552"/>
          </a:xfrm>
          <a:prstGeom prst="roundRect">
            <a:avLst>
              <a:gd name="adj" fmla="val 9259"/>
            </a:avLst>
          </a:prstGeom>
          <a:solidFill>
            <a:srgbClr val="1B3C63"/>
          </a:solidFill>
          <a:ln w="12700">
            <a:solidFill>
              <a:srgbClr val="24406B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589520" y="1755648"/>
            <a:ext cx="384048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5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Kerberoasting / AS-REP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777240" y="1755648"/>
            <a:ext cx="667512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gMSA · סיסמאות חזקות · הפעלת pre-auth · ניטור בקשות TGS חריגות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11091672" cy="987552"/>
          </a:xfrm>
          <a:prstGeom prst="roundRect">
            <a:avLst>
              <a:gd name="adj" fmla="val 9259"/>
            </a:avLst>
          </a:prstGeom>
          <a:solidFill>
            <a:srgbClr val="15294A"/>
          </a:solidFill>
          <a:ln w="12700">
            <a:solidFill>
              <a:srgbClr val="24406B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589520" y="2852928"/>
            <a:ext cx="384048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5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ACL / BloodHound paths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77240" y="2852928"/>
            <a:ext cx="667512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עקרון ההרשאה המזערית · ביקורת ACL תקופתית · הסרת הרשאות עודפות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48640" y="3840480"/>
            <a:ext cx="11091672" cy="987552"/>
          </a:xfrm>
          <a:prstGeom prst="roundRect">
            <a:avLst>
              <a:gd name="adj" fmla="val 9259"/>
            </a:avLst>
          </a:prstGeom>
          <a:solidFill>
            <a:srgbClr val="1B3C63"/>
          </a:solidFill>
          <a:ln w="12700">
            <a:solidFill>
              <a:srgbClr val="24406B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589520" y="3950208"/>
            <a:ext cx="384048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5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Pass-the-Hash / Ticket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777240" y="3950208"/>
            <a:ext cx="667512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מודל שכבות (Tiered / Enterprise Access) · Credential Guard · LAPS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48640" y="4937760"/>
            <a:ext cx="11091672" cy="987552"/>
          </a:xfrm>
          <a:prstGeom prst="roundRect">
            <a:avLst>
              <a:gd name="adj" fmla="val 9259"/>
            </a:avLst>
          </a:prstGeom>
          <a:solidFill>
            <a:srgbClr val="15294A"/>
          </a:solidFill>
          <a:ln w="12700">
            <a:solidFill>
              <a:srgbClr val="24406B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589520" y="5047488"/>
            <a:ext cx="384048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5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DCSync / Delegation / ADCS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777240" y="5047488"/>
            <a:ext cx="667512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הגבלת הרשאות שכפול · חיזוק תבניות ADCS · ניטור אירועי 4662/4769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48640" y="608076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35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מיפוי מלא של כל טכניקה למזהי MITRE ATT&amp;CK מופיע במאמר המלווה ובקבצי ה-findings.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ספרות מקצועית · מסגרות ותקנים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11091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5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PROFESSIONAL LITERATURE — FRAMEWORKS &amp; STANDARDS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1672" cy="859536"/>
          </a:xfrm>
          <a:prstGeom prst="roundRect">
            <a:avLst>
              <a:gd name="adj" fmla="val 10638"/>
            </a:avLst>
          </a:prstGeom>
          <a:solidFill>
            <a:srgbClr val="15294A"/>
          </a:solidFill>
          <a:ln w="12700">
            <a:solidFill>
              <a:srgbClr val="24406B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881360" y="1700784"/>
            <a:ext cx="566928" cy="566928"/>
          </a:xfrm>
          <a:prstGeom prst="oval">
            <a:avLst/>
          </a:prstGeom>
          <a:solidFill>
            <a:srgbClr val="35D0E0"/>
          </a:solidFill>
          <a:ln w="12700">
            <a:solidFill>
              <a:srgbClr val="35D0E0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881360" y="170078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C1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035040" y="1645920"/>
            <a:ext cx="46634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50" b="1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MITRE ATT&amp;CK — Enterprise Matrix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777240" y="1645920"/>
            <a:ext cx="51206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FB4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טקסונומיה של טכניקות יריב (TA0006 Credential Access, TA0008 Lateral Movement ועוד). attack.mitre.org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505456"/>
            <a:ext cx="11091672" cy="859536"/>
          </a:xfrm>
          <a:prstGeom prst="roundRect">
            <a:avLst>
              <a:gd name="adj" fmla="val 10638"/>
            </a:avLst>
          </a:prstGeom>
          <a:solidFill>
            <a:srgbClr val="15294A"/>
          </a:solidFill>
          <a:ln w="12700">
            <a:solidFill>
              <a:srgbClr val="24406B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881360" y="2651760"/>
            <a:ext cx="566928" cy="566928"/>
          </a:xfrm>
          <a:prstGeom prst="oval">
            <a:avLst/>
          </a:prstGeom>
          <a:solidFill>
            <a:srgbClr val="35D0E0"/>
          </a:solidFill>
          <a:ln w="12700">
            <a:solidFill>
              <a:srgbClr val="35D0E0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0881360" y="26517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C1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035040" y="2596896"/>
            <a:ext cx="46634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50" b="1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NIST SP 800-115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777240" y="2596896"/>
            <a:ext cx="51206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FB4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Guide to Information Security Testing and Assessment — מתודולוגיית בדיקות רשמית.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456432"/>
            <a:ext cx="11091672" cy="859536"/>
          </a:xfrm>
          <a:prstGeom prst="roundRect">
            <a:avLst>
              <a:gd name="adj" fmla="val 10638"/>
            </a:avLst>
          </a:prstGeom>
          <a:solidFill>
            <a:srgbClr val="15294A"/>
          </a:solidFill>
          <a:ln w="12700">
            <a:solidFill>
              <a:srgbClr val="24406B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881360" y="3602736"/>
            <a:ext cx="566928" cy="566928"/>
          </a:xfrm>
          <a:prstGeom prst="oval">
            <a:avLst/>
          </a:prstGeom>
          <a:solidFill>
            <a:srgbClr val="35D0E0"/>
          </a:solidFill>
          <a:ln w="12700">
            <a:solidFill>
              <a:srgbClr val="35D0E0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0881360" y="360273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C1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035040" y="3547872"/>
            <a:ext cx="46634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50" b="1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PTES — Penetration Testing Execution Standard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777240" y="3547872"/>
            <a:ext cx="51206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FB4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תקן שלבי בדיקת חדירות: pre-engagement, intelligence, exploitation, reporting.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407408"/>
            <a:ext cx="11091672" cy="859536"/>
          </a:xfrm>
          <a:prstGeom prst="roundRect">
            <a:avLst>
              <a:gd name="adj" fmla="val 10638"/>
            </a:avLst>
          </a:prstGeom>
          <a:solidFill>
            <a:srgbClr val="15294A"/>
          </a:solidFill>
          <a:ln w="12700">
            <a:solidFill>
              <a:srgbClr val="24406B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0881360" y="4553712"/>
            <a:ext cx="566928" cy="566928"/>
          </a:xfrm>
          <a:prstGeom prst="oval">
            <a:avLst/>
          </a:prstGeom>
          <a:solidFill>
            <a:srgbClr val="2A7B8C"/>
          </a:solidFill>
          <a:ln w="12700">
            <a:solidFill>
              <a:srgbClr val="2A7B8C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0881360" y="4553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C1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035040" y="4498848"/>
            <a:ext cx="46634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50" b="1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Testing Guide / WSTG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777240" y="4498848"/>
            <a:ext cx="51206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FB4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מסגרת בדיקות אבטחה, רלוונטית לשלב ה-foothold מבוסס-Web של מכונות רבות.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5358384"/>
            <a:ext cx="11091672" cy="859536"/>
          </a:xfrm>
          <a:prstGeom prst="roundRect">
            <a:avLst>
              <a:gd name="adj" fmla="val 10638"/>
            </a:avLst>
          </a:prstGeom>
          <a:solidFill>
            <a:srgbClr val="15294A"/>
          </a:solidFill>
          <a:ln w="12700">
            <a:solidFill>
              <a:srgbClr val="24406B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881360" y="5504688"/>
            <a:ext cx="566928" cy="566928"/>
          </a:xfrm>
          <a:prstGeom prst="oval">
            <a:avLst/>
          </a:prstGeom>
          <a:solidFill>
            <a:srgbClr val="2A7B8C"/>
          </a:solidFill>
          <a:ln w="12700">
            <a:solidFill>
              <a:srgbClr val="2A7B8C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0881360" y="550468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C1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6035040" y="5449824"/>
            <a:ext cx="46634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50" b="1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— Securing Active Directory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777240" y="5449824"/>
            <a:ext cx="51206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FB4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Practices for Securing AD · Tiered Administrative / Enterprise Access Model.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FB4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netanelcyber · HAMIVTZAR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0" y="6419088"/>
            <a:ext cx="7068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9FB4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סביבת אימון מורשית (Hack The Box) — למטרות חינוכיות בלבד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C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ספרות מקצועית · מחקרים, כלים וספרים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11091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5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SEMINAL RESEARCH · TOOLING · BOOKS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8065008" y="1554480"/>
            <a:ext cx="3575304" cy="4526280"/>
          </a:xfrm>
          <a:prstGeom prst="roundRect">
            <a:avLst>
              <a:gd name="adj" fmla="val 2558"/>
            </a:avLst>
          </a:prstGeom>
          <a:solidFill>
            <a:srgbClr val="15294A"/>
          </a:solidFill>
          <a:ln w="12700">
            <a:solidFill>
              <a:srgbClr val="24406B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66176" y="16916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35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מחקר פורץ-דרך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66176" y="2240280"/>
            <a:ext cx="32004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Medin — Attacking Kerberos: Kicking the Guard Dog of Hades (DerbyCon 2014)</a:t>
            </a:r>
            <a:endParaRPr lang="en-US" sz="1150" dirty="0"/>
          </a:p>
          <a:p>
            <a:pPr algn="r"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Robbins, Vazarkar &amp; Schroeder — An ACE Up the Sleeve (DEF CON 25, 2017)</a:t>
            </a:r>
            <a:endParaRPr lang="en-US" sz="1150" dirty="0"/>
          </a:p>
          <a:p>
            <a:pPr algn="r"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Schroeder &amp; Christensen — Certified Pre-Owned: Abusing AD CS (2021)</a:t>
            </a:r>
            <a:endParaRPr lang="en-US" sz="1150" dirty="0"/>
          </a:p>
          <a:p>
            <a:pPr algn="r"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Shamir — Wagging the Dog: Abusing RBCD (2019)</a:t>
            </a:r>
            <a:endParaRPr lang="en-US" sz="1150" dirty="0"/>
          </a:p>
          <a:p>
            <a:pPr algn="r"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Metcalf — adsecurity.org (Kerberos &amp; DA persistence)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06824" y="1554480"/>
            <a:ext cx="3575304" cy="4526280"/>
          </a:xfrm>
          <a:prstGeom prst="roundRect">
            <a:avLst>
              <a:gd name="adj" fmla="val 2558"/>
            </a:avLst>
          </a:prstGeom>
          <a:solidFill>
            <a:srgbClr val="15294A"/>
          </a:solidFill>
          <a:ln w="12700">
            <a:solidFill>
              <a:srgbClr val="24406B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07992" y="16916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כלים ותיעודם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07992" y="2240280"/>
            <a:ext cx="32004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Delpy — mimikatz (Pass-the-Hash, DCSync, Golden Ticket)</a:t>
            </a:r>
            <a:endParaRPr lang="en-US" sz="1150" dirty="0"/>
          </a:p>
          <a:p>
            <a:pPr algn="r"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Impacket (Fortra) — secretsdump, GetUserSPNs, psexec</a:t>
            </a:r>
            <a:endParaRPr lang="en-US" sz="1150" dirty="0"/>
          </a:p>
          <a:p>
            <a:pPr algn="r"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BloodHound / SharpHound (SpecterOps)</a:t>
            </a:r>
            <a:endParaRPr lang="en-US" sz="1150" dirty="0"/>
          </a:p>
          <a:p>
            <a:pPr algn="r"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NetExec (nxc) / CrackMapExec</a:t>
            </a:r>
            <a:endParaRPr lang="en-US" sz="1150" dirty="0"/>
          </a:p>
          <a:p>
            <a:pPr algn="r"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Certipy · Rubeus · PowerView (harmj0y)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1554480"/>
            <a:ext cx="3575304" cy="4526280"/>
          </a:xfrm>
          <a:prstGeom prst="roundRect">
            <a:avLst>
              <a:gd name="adj" fmla="val 2558"/>
            </a:avLst>
          </a:prstGeom>
          <a:solidFill>
            <a:srgbClr val="15294A"/>
          </a:solidFill>
          <a:ln w="12700">
            <a:solidFill>
              <a:srgbClr val="24406B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49808" y="16916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A7B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ספרים ומסלולי הכשרה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2240280"/>
            <a:ext cx="32004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 — The Hacker Playbook 3 (2018)</a:t>
            </a:r>
            <a:endParaRPr lang="en-US" sz="1150" dirty="0"/>
          </a:p>
          <a:p>
            <a:pPr algn="r"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Weidman — Penetration Testing (No Starch, 2014)</a:t>
            </a:r>
            <a:endParaRPr lang="en-US" sz="1150" dirty="0"/>
          </a:p>
          <a:p>
            <a:pPr algn="r"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 Mittal — AD attack courses</a:t>
            </a:r>
            <a:endParaRPr lang="en-US" sz="1150" dirty="0"/>
          </a:p>
          <a:p>
            <a:pPr algn="r"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HTB Academy — CPTS / Active Directory Enumeration &amp; Attacks</a:t>
            </a:r>
            <a:endParaRPr lang="en-US" sz="1150" dirty="0"/>
          </a:p>
          <a:p>
            <a:pPr algn="r"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Offensive Security — OSCP/OSEP materials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63840" y="-548640"/>
            <a:ext cx="4754880" cy="5943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0" b="1" dirty="0">
                <a:solidFill>
                  <a:srgbClr val="1529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</a:t>
            </a:r>
            <a:endParaRPr lang="en-US" sz="340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011680" y="2103120"/>
            <a:ext cx="95097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▸"/>
            </a:pPr>
            <a:r>
              <a:rPr lang="en-US" sz="1800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תקיפת AD היא שרשרת לוגית: כל שלב מזין את הבא — ממיפוי לא-מאומת ועד DCSync.</a:t>
            </a:r>
            <a:endParaRPr lang="en-US" sz="1800" dirty="0"/>
          </a:p>
          <a:p>
            <a:pPr algn="r"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▸"/>
            </a:pPr>
            <a:r>
              <a:rPr lang="en-US" sz="1800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הכלים והטכניקות מתועדים ומגובים במחקר מקצועי מוכר (SpecterOps, MITRE, Microsoft).</a:t>
            </a:r>
            <a:endParaRPr lang="en-US" sz="1800" dirty="0"/>
          </a:p>
          <a:p>
            <a:pPr algn="r"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▸"/>
            </a:pPr>
            <a:r>
              <a:rPr lang="en-US" sz="1800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הבנת התקיפה היא הבסיס להגנה: כל וקטור ממופה למיטיגציה ולמזהה ATT&amp;CK.</a:t>
            </a:r>
            <a:endParaRPr lang="en-US" sz="1800" dirty="0"/>
          </a:p>
          <a:p>
            <a:pPr algn="r"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▸"/>
            </a:pPr>
            <a:r>
              <a:rPr lang="en-US" sz="1800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הפעילות בוצעה בסביבת אימון מורשית (Hack The Box) ולמטרות חינוכיות בלבד.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5257800"/>
            <a:ext cx="10908792" cy="960120"/>
          </a:xfrm>
          <a:prstGeom prst="roundRect">
            <a:avLst>
              <a:gd name="adj" fmla="val 9524"/>
            </a:avLst>
          </a:prstGeom>
          <a:solidFill>
            <a:srgbClr val="1B3C63"/>
          </a:solidFill>
          <a:ln w="12700">
            <a:solidFill>
              <a:srgbClr val="24406B"/>
            </a:solidFill>
            <a:prstDash val="solid"/>
          </a:ln>
          <a:effectLst>
            <a:outerShdw sx="100000" sy="100000" kx="0" ky="0" algn="bl" rotWithShape="0" blurRad="101600" dist="38100" dir="5400000">
              <a:srgbClr val="05080F">
                <a:alpha val="5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5349240"/>
            <a:ext cx="1045159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EAF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נספח מלווה: מאמר מקצועי מלא (ARTICLE.md) הכולל מבוא, מתודולוגיה, ניתוח כל שלב, מיפוי ATT&amp;CK ורשימת מקורות (bibliography).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2026-08-12T05:54:37Z</dcterms:created>
  <dcterms:modified xsi:type="dcterms:W3CDTF">2026-08-12T05:54:37Z</dcterms:modified>
</cp:coreProperties>
</file>